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8" r:id="rId4"/>
    <p:sldId id="260" r:id="rId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5308066-BE02-4BBA-AC69-AE90D2838110}" v="6" dt="2026-07-05T12:39:33.838"/>
    <p1510:client id="{93A98160-B1A6-4CC1-9928-96790D6FFDB4}" v="1703" dt="2026-07-05T12:27:19.13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61" d="100"/>
          <a:sy n="61" d="100"/>
        </p:scale>
        <p:origin x="8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</a:t>
            </a:r>
            <a:endParaRPr lang="de-DE"/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de-DE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A8E5F-40E5-4553-9F3C-699F1A5B8145}" type="datetimeFigureOut">
              <a:rPr lang="de-DE" smtClean="0"/>
              <a:t>05.07.2026</a:t>
            </a:fld>
            <a:endParaRPr lang="de-DE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45B7-DFE2-4393-8D37-380FC36BF3AA}" type="slidenum">
              <a:rPr lang="de-DE" smtClean="0"/>
              <a:t>‹N›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861926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  <a:endParaRPr lang="de-DE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de-DE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A8E5F-40E5-4553-9F3C-699F1A5B8145}" type="datetimeFigureOut">
              <a:rPr lang="de-DE" smtClean="0"/>
              <a:t>05.07.2026</a:t>
            </a:fld>
            <a:endParaRPr lang="de-DE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45B7-DFE2-4393-8D37-380FC36BF3AA}" type="slidenum">
              <a:rPr lang="de-DE" smtClean="0"/>
              <a:t>‹N›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63181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</a:t>
            </a:r>
            <a:endParaRPr lang="de-DE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A8E5F-40E5-4553-9F3C-699F1A5B8145}" type="datetimeFigureOut">
              <a:rPr lang="de-DE" smtClean="0"/>
              <a:t>05.07.2026</a:t>
            </a:fld>
            <a:endParaRPr lang="de-DE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45B7-DFE2-4393-8D37-380FC36BF3AA}" type="slidenum">
              <a:rPr lang="de-DE" smtClean="0"/>
              <a:t>‹N›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773935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  <a:endParaRPr lang="de-DE"/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de-DE"/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de-DE"/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A8E5F-40E5-4553-9F3C-699F1A5B8145}" type="datetimeFigureOut">
              <a:rPr lang="de-DE" smtClean="0"/>
              <a:t>05.07.2026</a:t>
            </a:fld>
            <a:endParaRPr lang="de-DE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45B7-DFE2-4393-8D37-380FC36BF3AA}" type="slidenum">
              <a:rPr lang="de-DE" smtClean="0"/>
              <a:t>‹N›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40897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</a:t>
            </a:r>
            <a:endParaRPr lang="de-DE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de-DE"/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de-DE"/>
          </a:p>
        </p:txBody>
      </p:sp>
      <p:sp>
        <p:nvSpPr>
          <p:cNvPr id="7" name="Segnaposto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A8E5F-40E5-4553-9F3C-699F1A5B8145}" type="datetimeFigureOut">
              <a:rPr lang="de-DE" smtClean="0"/>
              <a:t>05.07.2026</a:t>
            </a:fld>
            <a:endParaRPr lang="de-DE"/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egnaposto numero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45B7-DFE2-4393-8D37-380FC36BF3AA}" type="slidenum">
              <a:rPr lang="de-DE" smtClean="0"/>
              <a:t>‹N›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79829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  <a:endParaRPr lang="de-DE"/>
          </a:p>
        </p:txBody>
      </p:sp>
      <p:sp>
        <p:nvSpPr>
          <p:cNvPr id="3" name="Segnaposto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A8E5F-40E5-4553-9F3C-699F1A5B8145}" type="datetimeFigureOut">
              <a:rPr lang="de-DE" smtClean="0"/>
              <a:t>05.07.2026</a:t>
            </a:fld>
            <a:endParaRPr lang="de-DE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45B7-DFE2-4393-8D37-380FC36BF3AA}" type="slidenum">
              <a:rPr lang="de-DE" smtClean="0"/>
              <a:t>‹N›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17825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A8E5F-40E5-4553-9F3C-699F1A5B8145}" type="datetimeFigureOut">
              <a:rPr lang="de-DE" smtClean="0"/>
              <a:t>05.07.2026</a:t>
            </a:fld>
            <a:endParaRPr lang="de-DE"/>
          </a:p>
        </p:txBody>
      </p:sp>
      <p:sp>
        <p:nvSpPr>
          <p:cNvPr id="3" name="Segnaposto piè di pa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45B7-DFE2-4393-8D37-380FC36BF3AA}" type="slidenum">
              <a:rPr lang="de-DE" smtClean="0"/>
              <a:t>‹N›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40951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</a:t>
            </a:r>
            <a:endParaRPr lang="de-DE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de-DE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A8E5F-40E5-4553-9F3C-699F1A5B8145}" type="datetimeFigureOut">
              <a:rPr lang="de-DE" smtClean="0"/>
              <a:t>05.07.2026</a:t>
            </a:fld>
            <a:endParaRPr lang="de-DE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45B7-DFE2-4393-8D37-380FC36BF3AA}" type="slidenum">
              <a:rPr lang="de-DE" smtClean="0"/>
              <a:t>‹N›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58163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</a:t>
            </a:r>
            <a:endParaRPr lang="de-DE"/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A8E5F-40E5-4553-9F3C-699F1A5B8145}" type="datetimeFigureOut">
              <a:rPr lang="de-DE" smtClean="0"/>
              <a:t>05.07.2026</a:t>
            </a:fld>
            <a:endParaRPr lang="de-DE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45B7-DFE2-4393-8D37-380FC36BF3AA}" type="slidenum">
              <a:rPr lang="de-DE" smtClean="0"/>
              <a:t>‹N›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885766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  <a:endParaRPr lang="de-DE"/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de-DE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A8E5F-40E5-4553-9F3C-699F1A5B8145}" type="datetimeFigureOut">
              <a:rPr lang="de-DE" smtClean="0"/>
              <a:t>05.07.2026</a:t>
            </a:fld>
            <a:endParaRPr lang="de-DE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45B7-DFE2-4393-8D37-380FC36BF3AA}" type="slidenum">
              <a:rPr lang="de-DE" smtClean="0"/>
              <a:t>‹N›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244690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</a:t>
            </a:r>
            <a:endParaRPr lang="de-DE"/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de-DE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A8E5F-40E5-4553-9F3C-699F1A5B8145}" type="datetimeFigureOut">
              <a:rPr lang="de-DE" smtClean="0"/>
              <a:t>05.07.2026</a:t>
            </a:fld>
            <a:endParaRPr lang="de-DE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45B7-DFE2-4393-8D37-380FC36BF3AA}" type="slidenum">
              <a:rPr lang="de-DE" smtClean="0"/>
              <a:t>‹N›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68423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</a:t>
            </a:r>
            <a:endParaRPr lang="de-DE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de-DE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4A8E5F-40E5-4553-9F3C-699F1A5B8145}" type="datetimeFigureOut">
              <a:rPr lang="de-DE" smtClean="0"/>
              <a:t>05.07.2026</a:t>
            </a:fld>
            <a:endParaRPr lang="de-DE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CD45B7-DFE2-4393-8D37-380FC36BF3AA}" type="slidenum">
              <a:rPr lang="de-DE" smtClean="0"/>
              <a:t>‹N›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019314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783772" y="295049"/>
            <a:ext cx="10624456" cy="1132115"/>
          </a:xfrm>
        </p:spPr>
        <p:txBody>
          <a:bodyPr>
            <a:normAutofit/>
          </a:bodyPr>
          <a:lstStyle/>
          <a:p>
            <a:r>
              <a:rPr lang="de-DE"/>
              <a:t>Final Project Boolean Class</a:t>
            </a:r>
            <a:r>
              <a:rPr lang="de-DE" dirty="0"/>
              <a:t> 27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9202057" y="5975124"/>
            <a:ext cx="3011714" cy="63976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/>
              <a:t>Samuele Puccini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94B692F4-3EED-CB3D-1D12-5B0C2B85FBEF}"/>
              </a:ext>
            </a:extLst>
          </p:cNvPr>
          <p:cNvSpPr txBox="1"/>
          <p:nvPr/>
        </p:nvSpPr>
        <p:spPr>
          <a:xfrm>
            <a:off x="1444902" y="1879471"/>
            <a:ext cx="893504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sz="3600" dirty="0"/>
              <a:t>Fase 1:  </a:t>
            </a:r>
            <a:r>
              <a:rPr lang="it-IT" sz="3600" b="1" dirty="0"/>
              <a:t>Getting data and </a:t>
            </a:r>
            <a:r>
              <a:rPr lang="it-IT" sz="3600" b="1" dirty="0" err="1"/>
              <a:t>cleaning</a:t>
            </a:r>
            <a:r>
              <a:rPr lang="it-IT" sz="3600" b="1" dirty="0"/>
              <a:t> </a:t>
            </a:r>
            <a:r>
              <a:rPr lang="it-IT" sz="3600" b="1" dirty="0" err="1"/>
              <a:t>it</a:t>
            </a:r>
            <a:r>
              <a:rPr lang="it-IT" sz="3600" b="1" dirty="0"/>
              <a:t> up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66192C0-C1CE-BFAB-A864-C07BE0759A02}"/>
              </a:ext>
            </a:extLst>
          </p:cNvPr>
          <p:cNvSpPr txBox="1"/>
          <p:nvPr/>
        </p:nvSpPr>
        <p:spPr>
          <a:xfrm>
            <a:off x="1447168" y="3240631"/>
            <a:ext cx="951462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sz="3600" dirty="0"/>
              <a:t>Fase 2 : </a:t>
            </a:r>
            <a:r>
              <a:rPr lang="it-IT" sz="3600" b="1" dirty="0"/>
              <a:t>Cluster Analysis and </a:t>
            </a:r>
            <a:r>
              <a:rPr lang="it-IT" sz="3600" b="1" dirty="0" err="1"/>
              <a:t>Regression</a:t>
            </a:r>
            <a:r>
              <a:rPr lang="it-IT" sz="3600" b="1" dirty="0"/>
              <a:t> Test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12F31C3-E2A6-6BBB-EB81-60E465D48EB5}"/>
              </a:ext>
            </a:extLst>
          </p:cNvPr>
          <p:cNvSpPr txBox="1"/>
          <p:nvPr/>
        </p:nvSpPr>
        <p:spPr>
          <a:xfrm>
            <a:off x="1447167" y="4591356"/>
            <a:ext cx="7753623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sz="3600" dirty="0"/>
              <a:t>Fase 3: </a:t>
            </a:r>
            <a:r>
              <a:rPr lang="it-IT" sz="3600" b="1" dirty="0" err="1"/>
              <a:t>Creating</a:t>
            </a:r>
            <a:r>
              <a:rPr lang="it-IT" sz="3600" b="1" dirty="0"/>
              <a:t> a Dashboard</a:t>
            </a:r>
          </a:p>
        </p:txBody>
      </p:sp>
      <p:sp>
        <p:nvSpPr>
          <p:cNvPr id="7" name="Freccia a destra 6">
            <a:extLst>
              <a:ext uri="{FF2B5EF4-FFF2-40B4-BE49-F238E27FC236}">
                <a16:creationId xmlns:a16="http://schemas.microsoft.com/office/drawing/2014/main" id="{1BEE57F6-DDED-68D8-FD93-5A80D4E4C446}"/>
              </a:ext>
            </a:extLst>
          </p:cNvPr>
          <p:cNvSpPr/>
          <p:nvPr/>
        </p:nvSpPr>
        <p:spPr>
          <a:xfrm>
            <a:off x="128983" y="2024102"/>
            <a:ext cx="1054095" cy="359000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>
              <a:solidFill>
                <a:schemeClr val="accent2"/>
              </a:solidFill>
            </a:endParaRPr>
          </a:p>
        </p:txBody>
      </p:sp>
      <p:sp>
        <p:nvSpPr>
          <p:cNvPr id="8" name="Freccia a destra 7">
            <a:extLst>
              <a:ext uri="{FF2B5EF4-FFF2-40B4-BE49-F238E27FC236}">
                <a16:creationId xmlns:a16="http://schemas.microsoft.com/office/drawing/2014/main" id="{5488CAA6-0DB1-2FAC-E2B9-6406170B0654}"/>
              </a:ext>
            </a:extLst>
          </p:cNvPr>
          <p:cNvSpPr/>
          <p:nvPr/>
        </p:nvSpPr>
        <p:spPr>
          <a:xfrm>
            <a:off x="128982" y="3388444"/>
            <a:ext cx="1054095" cy="359000"/>
          </a:xfrm>
          <a:prstGeom prst="rightArrow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Freccia a destra 8">
            <a:extLst>
              <a:ext uri="{FF2B5EF4-FFF2-40B4-BE49-F238E27FC236}">
                <a16:creationId xmlns:a16="http://schemas.microsoft.com/office/drawing/2014/main" id="{D812C32D-203F-B819-A336-8837F73C25FD}"/>
              </a:ext>
            </a:extLst>
          </p:cNvPr>
          <p:cNvSpPr/>
          <p:nvPr/>
        </p:nvSpPr>
        <p:spPr>
          <a:xfrm>
            <a:off x="128981" y="4738272"/>
            <a:ext cx="1054095" cy="359000"/>
          </a:xfrm>
          <a:prstGeom prst="rightArrow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625839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78C98B7-B05F-D457-B5AF-008C5645D8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Fase 1 </a:t>
            </a:r>
            <a:r>
              <a:rPr lang="it-IT" b="1" dirty="0">
                <a:solidFill>
                  <a:schemeClr val="accent2"/>
                </a:solidFill>
              </a:rPr>
              <a:t>Getting data and </a:t>
            </a:r>
            <a:r>
              <a:rPr lang="it-IT" b="1" dirty="0" err="1">
                <a:solidFill>
                  <a:schemeClr val="accent2"/>
                </a:solidFill>
              </a:rPr>
              <a:t>cleaning</a:t>
            </a:r>
            <a:r>
              <a:rPr lang="it-IT" b="1" dirty="0">
                <a:solidFill>
                  <a:schemeClr val="accent2"/>
                </a:solidFill>
              </a:rPr>
              <a:t> </a:t>
            </a:r>
            <a:r>
              <a:rPr lang="it-IT" b="1" dirty="0" err="1">
                <a:solidFill>
                  <a:schemeClr val="accent2"/>
                </a:solidFill>
              </a:rPr>
              <a:t>it</a:t>
            </a:r>
            <a:r>
              <a:rPr lang="it-IT" b="1" dirty="0">
                <a:solidFill>
                  <a:schemeClr val="accent2"/>
                </a:solidFill>
              </a:rPr>
              <a:t> up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56602D7-1650-861A-CA25-ECB79A3473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38541"/>
            <a:ext cx="4376057" cy="222499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it-IT" b="1" i="1" dirty="0" err="1"/>
              <a:t>Main</a:t>
            </a:r>
            <a:r>
              <a:rPr lang="it-IT" b="1" i="1" dirty="0"/>
              <a:t> tool/</a:t>
            </a:r>
            <a:r>
              <a:rPr lang="it-IT" b="1" i="1" dirty="0" err="1"/>
              <a:t>technologies</a:t>
            </a:r>
            <a:r>
              <a:rPr lang="it-IT" b="1" i="1" dirty="0"/>
              <a:t>:</a:t>
            </a:r>
            <a:endParaRPr lang="it-IT" dirty="0"/>
          </a:p>
          <a:p>
            <a:pPr marL="0" indent="0">
              <a:buNone/>
            </a:pPr>
            <a:endParaRPr lang="it-IT" b="1" i="1" dirty="0"/>
          </a:p>
          <a:p>
            <a:pPr>
              <a:buFont typeface="Calibri,Sans-Serif" panose="020B0604020202020204" pitchFamily="34" charset="0"/>
              <a:buChar char="-"/>
            </a:pPr>
            <a:r>
              <a:rPr lang="it-IT"/>
              <a:t>Vs code and Python Libraries</a:t>
            </a:r>
          </a:p>
          <a:p>
            <a:pPr>
              <a:buFont typeface="Calibri,Sans-Serif" panose="020B0604020202020204" pitchFamily="34" charset="0"/>
              <a:buChar char="-"/>
            </a:pPr>
            <a:endParaRPr lang="it-IT" dirty="0"/>
          </a:p>
          <a:p>
            <a:pPr marL="0" indent="0">
              <a:buNone/>
            </a:pPr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17897E3C-1957-6296-58CC-D373A67CD599}"/>
              </a:ext>
            </a:extLst>
          </p:cNvPr>
          <p:cNvSpPr txBox="1"/>
          <p:nvPr/>
        </p:nvSpPr>
        <p:spPr>
          <a:xfrm>
            <a:off x="5805715" y="1701800"/>
            <a:ext cx="5921827" cy="418576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sz="2800" b="1" i="0" u="none" strike="noStrike" baseline="0" dirty="0" err="1">
                <a:solidFill>
                  <a:srgbClr val="000000"/>
                </a:solidFill>
                <a:latin typeface="Aptos"/>
              </a:rPr>
              <a:t>Main</a:t>
            </a:r>
            <a:r>
              <a:rPr lang="it-IT" sz="2800" b="1" i="0" u="none" strike="noStrike" baseline="0" dirty="0">
                <a:solidFill>
                  <a:srgbClr val="000000"/>
                </a:solidFill>
                <a:latin typeface="Aptos"/>
              </a:rPr>
              <a:t> Challenges:</a:t>
            </a:r>
            <a:endParaRPr lang="it-IT" dirty="0"/>
          </a:p>
          <a:p>
            <a:endParaRPr lang="it-IT" sz="2800" b="1" dirty="0"/>
          </a:p>
          <a:p>
            <a:pPr marL="342900" indent="-342900">
              <a:buFont typeface="Calibri"/>
              <a:buChar char="-"/>
            </a:pPr>
            <a:r>
              <a:rPr lang="it-IT" sz="2400" dirty="0"/>
              <a:t>Getting the data from the </a:t>
            </a:r>
            <a:r>
              <a:rPr lang="it-IT" sz="2400" dirty="0" err="1"/>
              <a:t>istat</a:t>
            </a:r>
            <a:r>
              <a:rPr lang="it-IT" sz="2400" dirty="0"/>
              <a:t> site (a </a:t>
            </a:r>
            <a:r>
              <a:rPr lang="it-IT" sz="2400" dirty="0" err="1"/>
              <a:t>lot</a:t>
            </a:r>
            <a:r>
              <a:rPr lang="it-IT" sz="2400" dirty="0"/>
              <a:t> of time </a:t>
            </a:r>
            <a:r>
              <a:rPr lang="it-IT" sz="2400" dirty="0" err="1"/>
              <a:t>it</a:t>
            </a:r>
            <a:r>
              <a:rPr lang="it-IT" sz="2400" dirty="0"/>
              <a:t> </a:t>
            </a:r>
            <a:r>
              <a:rPr lang="it-IT" sz="2400" dirty="0" err="1"/>
              <a:t>didn't</a:t>
            </a:r>
            <a:r>
              <a:rPr lang="it-IT" sz="2400" dirty="0"/>
              <a:t> work)</a:t>
            </a:r>
            <a:endParaRPr lang="it-IT" sz="2400" b="1" dirty="0"/>
          </a:p>
          <a:p>
            <a:pPr marL="342900" indent="-342900">
              <a:buFont typeface="Calibri"/>
              <a:buChar char="-"/>
            </a:pPr>
            <a:endParaRPr lang="it-IT" sz="2400" dirty="0"/>
          </a:p>
          <a:p>
            <a:pPr marL="342900" indent="-342900">
              <a:buFont typeface="Calibri"/>
              <a:buChar char="-"/>
            </a:pPr>
            <a:r>
              <a:rPr lang="it-IT" sz="2400" dirty="0" err="1"/>
              <a:t>Understanding</a:t>
            </a:r>
            <a:r>
              <a:rPr lang="it-IT" sz="2400" dirty="0"/>
              <a:t> </a:t>
            </a:r>
            <a:r>
              <a:rPr lang="it-IT" sz="2400" dirty="0" err="1"/>
              <a:t>what</a:t>
            </a:r>
            <a:r>
              <a:rPr lang="it-IT" sz="2400" dirty="0"/>
              <a:t> </a:t>
            </a:r>
            <a:r>
              <a:rPr lang="it-IT" sz="2400" dirty="0" err="1"/>
              <a:t>each</a:t>
            </a:r>
            <a:r>
              <a:rPr lang="it-IT" sz="2400" dirty="0"/>
              <a:t> </a:t>
            </a:r>
            <a:r>
              <a:rPr lang="it-IT" sz="2400" dirty="0" err="1"/>
              <a:t>column</a:t>
            </a:r>
            <a:r>
              <a:rPr lang="it-IT" sz="2400" dirty="0"/>
              <a:t> </a:t>
            </a:r>
            <a:r>
              <a:rPr lang="it-IT" sz="2400" dirty="0" err="1"/>
              <a:t>meant</a:t>
            </a:r>
            <a:r>
              <a:rPr lang="it-IT" sz="2400" dirty="0"/>
              <a:t> and </a:t>
            </a:r>
            <a:r>
              <a:rPr lang="it-IT" sz="2400" dirty="0" err="1"/>
              <a:t>how</a:t>
            </a:r>
            <a:r>
              <a:rPr lang="it-IT" sz="2400" dirty="0"/>
              <a:t> </a:t>
            </a:r>
            <a:r>
              <a:rPr lang="it-IT" sz="2400" dirty="0" err="1"/>
              <a:t>important</a:t>
            </a:r>
            <a:r>
              <a:rPr lang="it-IT" sz="2400" dirty="0"/>
              <a:t> </a:t>
            </a:r>
            <a:r>
              <a:rPr lang="it-IT" sz="2400" dirty="0" err="1"/>
              <a:t>they</a:t>
            </a:r>
            <a:r>
              <a:rPr lang="it-IT" sz="2400" dirty="0"/>
              <a:t> </a:t>
            </a:r>
            <a:r>
              <a:rPr lang="it-IT" sz="2400" dirty="0" err="1"/>
              <a:t>were</a:t>
            </a:r>
            <a:endParaRPr lang="it-IT" sz="2400" dirty="0"/>
          </a:p>
          <a:p>
            <a:pPr marL="342900" indent="-342900">
              <a:buFont typeface="Calibri"/>
              <a:buChar char="-"/>
            </a:pPr>
            <a:endParaRPr lang="it-IT" sz="2400" dirty="0"/>
          </a:p>
          <a:p>
            <a:pPr marL="342900" indent="-342900">
              <a:buFont typeface="Calibri"/>
              <a:buChar char="-"/>
            </a:pPr>
            <a:r>
              <a:rPr lang="it-IT" sz="2400" dirty="0" err="1"/>
              <a:t>Creating</a:t>
            </a:r>
            <a:r>
              <a:rPr lang="it-IT" sz="2400" dirty="0"/>
              <a:t> new </a:t>
            </a:r>
            <a:r>
              <a:rPr lang="it-IT" sz="2400" dirty="0" err="1"/>
              <a:t>usable</a:t>
            </a:r>
            <a:r>
              <a:rPr lang="it-IT" sz="2400" dirty="0"/>
              <a:t> datasets</a:t>
            </a:r>
          </a:p>
          <a:p>
            <a:pPr marL="342900" indent="-342900">
              <a:buFont typeface="Calibri"/>
              <a:buChar char="-"/>
            </a:pPr>
            <a:endParaRPr lang="it-IT" sz="2400" dirty="0"/>
          </a:p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838044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C7125A-B66A-8380-CED6-9D2B51B99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Fase 2 </a:t>
            </a:r>
            <a:r>
              <a:rPr lang="it-IT" b="1" dirty="0">
                <a:solidFill>
                  <a:schemeClr val="accent5"/>
                </a:solidFill>
              </a:rPr>
              <a:t>Cluster Analysis and </a:t>
            </a:r>
            <a:r>
              <a:rPr lang="it-IT" b="1" dirty="0" err="1">
                <a:solidFill>
                  <a:schemeClr val="accent5"/>
                </a:solidFill>
              </a:rPr>
              <a:t>Regression</a:t>
            </a:r>
            <a:r>
              <a:rPr lang="it-IT" b="1" dirty="0">
                <a:solidFill>
                  <a:schemeClr val="accent5"/>
                </a:solidFill>
              </a:rPr>
              <a:t> Test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890E980-02CA-28DE-38CD-1E0873C4CA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2083"/>
            <a:ext cx="4172858" cy="439488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it-IT" b="1" i="1" dirty="0" err="1"/>
              <a:t>Main</a:t>
            </a:r>
            <a:r>
              <a:rPr lang="it-IT" b="1" i="1" dirty="0"/>
              <a:t> tool/</a:t>
            </a:r>
            <a:r>
              <a:rPr lang="it-IT" b="1" i="1" dirty="0" err="1"/>
              <a:t>technologies</a:t>
            </a:r>
            <a:r>
              <a:rPr lang="it-IT" b="1" i="1" dirty="0"/>
              <a:t>:</a:t>
            </a:r>
            <a:endParaRPr lang="it-IT" dirty="0"/>
          </a:p>
          <a:p>
            <a:pPr marL="0" indent="0">
              <a:buNone/>
            </a:pPr>
            <a:endParaRPr lang="it-IT" b="1" i="1" dirty="0"/>
          </a:p>
          <a:p>
            <a:pPr>
              <a:buFont typeface="Calibri,Sans-Serif"/>
              <a:buChar char="-"/>
            </a:pPr>
            <a:r>
              <a:rPr lang="it-IT"/>
              <a:t>Vs code and Python Libraries</a:t>
            </a:r>
          </a:p>
          <a:p>
            <a:pPr marL="0" indent="0">
              <a:buNone/>
            </a:pPr>
            <a:endParaRPr lang="it-IT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622252BB-AE42-3E21-255E-A9DF6B792B16}"/>
              </a:ext>
            </a:extLst>
          </p:cNvPr>
          <p:cNvSpPr txBox="1"/>
          <p:nvPr/>
        </p:nvSpPr>
        <p:spPr>
          <a:xfrm>
            <a:off x="6317624" y="1763412"/>
            <a:ext cx="5218596" cy="397031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sz="2800" b="1" dirty="0" err="1"/>
              <a:t>Main</a:t>
            </a:r>
            <a:r>
              <a:rPr lang="it-IT" sz="2800" b="1" dirty="0"/>
              <a:t> Challenges:</a:t>
            </a:r>
          </a:p>
          <a:p>
            <a:endParaRPr lang="it-IT" sz="2800" b="1" dirty="0"/>
          </a:p>
          <a:p>
            <a:pPr marL="457200" indent="-457200">
              <a:buFont typeface="Calibri"/>
              <a:buChar char="-"/>
            </a:pPr>
            <a:r>
              <a:rPr lang="it-IT" sz="2400" dirty="0" err="1"/>
              <a:t>Deciding</a:t>
            </a:r>
            <a:r>
              <a:rPr lang="it-IT" sz="2400" dirty="0"/>
              <a:t> </a:t>
            </a:r>
            <a:r>
              <a:rPr lang="it-IT" sz="2400" dirty="0" err="1"/>
              <a:t>which</a:t>
            </a:r>
            <a:r>
              <a:rPr lang="it-IT" sz="2400" dirty="0"/>
              <a:t> test to do</a:t>
            </a:r>
          </a:p>
          <a:p>
            <a:pPr marL="457200" indent="-457200">
              <a:buFont typeface="Calibri"/>
              <a:buChar char="-"/>
            </a:pPr>
            <a:endParaRPr lang="it-IT" sz="2400" dirty="0"/>
          </a:p>
          <a:p>
            <a:pPr marL="457200" indent="-457200">
              <a:buFont typeface="Calibri"/>
              <a:buChar char="-"/>
            </a:pPr>
            <a:r>
              <a:rPr lang="it-IT" sz="2400" dirty="0"/>
              <a:t>Picking </a:t>
            </a:r>
            <a:r>
              <a:rPr lang="it-IT" sz="2400" dirty="0" err="1"/>
              <a:t>which</a:t>
            </a:r>
            <a:r>
              <a:rPr lang="it-IT" sz="2400" dirty="0"/>
              <a:t> information to use in the cluster </a:t>
            </a:r>
            <a:r>
              <a:rPr lang="it-IT" sz="2400" dirty="0" err="1"/>
              <a:t>analysis</a:t>
            </a:r>
            <a:endParaRPr lang="it-IT" sz="2400" dirty="0"/>
          </a:p>
          <a:p>
            <a:pPr marL="457200" indent="-457200">
              <a:buFont typeface="Calibri"/>
              <a:buChar char="-"/>
            </a:pPr>
            <a:endParaRPr lang="it-IT" sz="2400" dirty="0"/>
          </a:p>
          <a:p>
            <a:pPr marL="457200" indent="-457200">
              <a:buFont typeface="Calibri"/>
              <a:buChar char="-"/>
            </a:pPr>
            <a:r>
              <a:rPr lang="it-IT" sz="2400" dirty="0" err="1"/>
              <a:t>Understanding</a:t>
            </a:r>
            <a:r>
              <a:rPr lang="it-IT" sz="2400" dirty="0"/>
              <a:t> </a:t>
            </a:r>
            <a:r>
              <a:rPr lang="it-IT" sz="2400" dirty="0" err="1"/>
              <a:t>regression</a:t>
            </a:r>
            <a:r>
              <a:rPr lang="it-IT" sz="2400" dirty="0"/>
              <a:t> </a:t>
            </a:r>
            <a:r>
              <a:rPr lang="it-IT" sz="2400" dirty="0" err="1"/>
              <a:t>test's</a:t>
            </a:r>
            <a:r>
              <a:rPr lang="it-IT" sz="2400" dirty="0"/>
              <a:t> </a:t>
            </a:r>
            <a:r>
              <a:rPr lang="it-IT" sz="2400" dirty="0" err="1"/>
              <a:t>results</a:t>
            </a:r>
            <a:endParaRPr lang="it-IT" sz="2400"/>
          </a:p>
          <a:p>
            <a:endParaRPr lang="it-IT" sz="2800" b="1" dirty="0"/>
          </a:p>
        </p:txBody>
      </p:sp>
    </p:spTree>
    <p:extLst>
      <p:ext uri="{BB962C8B-B14F-4D97-AF65-F5344CB8AC3E}">
        <p14:creationId xmlns:p14="http://schemas.microsoft.com/office/powerpoint/2010/main" val="19530486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EA95368-B255-49C2-A47B-FC2C5BCE8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Fase 3 </a:t>
            </a:r>
            <a:r>
              <a:rPr lang="it-IT" b="1" dirty="0" err="1">
                <a:solidFill>
                  <a:srgbClr val="C00000"/>
                </a:solidFill>
              </a:rPr>
              <a:t>Creating</a:t>
            </a:r>
            <a:r>
              <a:rPr lang="it-IT" b="1" dirty="0">
                <a:solidFill>
                  <a:srgbClr val="C00000"/>
                </a:solidFill>
              </a:rPr>
              <a:t> a Dashboard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0B3B881-1268-33C7-4124-0072284420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53055"/>
            <a:ext cx="4100287" cy="267493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it-IT" b="1" i="1" dirty="0" err="1"/>
              <a:t>Main</a:t>
            </a:r>
            <a:r>
              <a:rPr lang="it-IT" b="1" i="1" dirty="0"/>
              <a:t> tool/</a:t>
            </a:r>
            <a:r>
              <a:rPr lang="it-IT" b="1" i="1" dirty="0" err="1"/>
              <a:t>technologies</a:t>
            </a:r>
            <a:r>
              <a:rPr lang="it-IT" b="1" i="1" dirty="0"/>
              <a:t>:</a:t>
            </a:r>
            <a:endParaRPr lang="it-IT" dirty="0"/>
          </a:p>
          <a:p>
            <a:endParaRPr lang="it-IT" dirty="0"/>
          </a:p>
          <a:p>
            <a:pPr>
              <a:buFont typeface="Calibri,Sans-Serif" panose="020B0604020202020204" pitchFamily="34" charset="0"/>
              <a:buChar char="-"/>
            </a:pPr>
            <a:r>
              <a:rPr lang="it-IT"/>
              <a:t>Power Bi</a:t>
            </a:r>
            <a:endParaRPr lang="it-IT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3DDD27C-0087-C330-6565-3D5CB8B23825}"/>
              </a:ext>
            </a:extLst>
          </p:cNvPr>
          <p:cNvSpPr txBox="1"/>
          <p:nvPr/>
        </p:nvSpPr>
        <p:spPr>
          <a:xfrm>
            <a:off x="6096000" y="1709057"/>
            <a:ext cx="6096000" cy="406265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 rtl="0"/>
            <a:r>
              <a:rPr lang="it-IT" sz="2800" b="1" i="0" u="none" strike="noStrike" baseline="0" dirty="0" err="1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Main</a:t>
            </a:r>
            <a:r>
              <a:rPr lang="it-IT" sz="2800" b="1" i="0" u="none" strike="noStrike" baseline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 Challenges:</a:t>
            </a:r>
            <a:r>
              <a:rPr lang="en-US" sz="2800" b="0" i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​</a:t>
            </a:r>
          </a:p>
          <a:p>
            <a:pPr algn="l" rtl="0"/>
            <a:r>
              <a:rPr lang="it-IT" sz="2800" b="0" i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​</a:t>
            </a:r>
          </a:p>
          <a:p>
            <a:pPr marL="457200" indent="-457200">
              <a:buFont typeface="Calibri,Sans-Serif"/>
              <a:buChar char="-"/>
            </a:pPr>
            <a:r>
              <a:rPr lang="en-US" sz="2400" dirty="0">
                <a:solidFill>
                  <a:srgbClr val="000000"/>
                </a:solidFill>
                <a:latin typeface="Aptos"/>
                <a:ea typeface="Arial"/>
                <a:cs typeface="Arial"/>
              </a:rPr>
              <a:t>Using </a:t>
            </a:r>
            <a:r>
              <a:rPr lang="en-US" sz="2400" dirty="0" err="1">
                <a:solidFill>
                  <a:srgbClr val="000000"/>
                </a:solidFill>
                <a:latin typeface="Aptos"/>
                <a:ea typeface="Arial"/>
                <a:cs typeface="Arial"/>
              </a:rPr>
              <a:t>dax</a:t>
            </a:r>
            <a:r>
              <a:rPr lang="en-US" sz="2400" dirty="0">
                <a:solidFill>
                  <a:srgbClr val="000000"/>
                </a:solidFill>
                <a:latin typeface="Aptos"/>
                <a:ea typeface="Arial"/>
                <a:cs typeface="Arial"/>
              </a:rPr>
              <a:t> to create new information</a:t>
            </a:r>
            <a:endParaRPr lang="en-US" sz="2400" b="0" i="0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pPr marL="457200" lvl="0" indent="-457200" algn="l" rtl="0">
              <a:buFont typeface="Calibri,Sans-Serif"/>
              <a:buChar char="-"/>
            </a:pPr>
            <a:endParaRPr lang="it-IT" b="0" i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indent="-457200">
              <a:buFont typeface="Calibri,Sans-Serif"/>
              <a:buChar char="-"/>
            </a:pPr>
            <a:r>
              <a:rPr lang="it-IT" sz="2400" dirty="0">
                <a:solidFill>
                  <a:srgbClr val="000000"/>
                </a:solidFill>
                <a:latin typeface="Aptos"/>
                <a:ea typeface="Arial"/>
                <a:cs typeface="Arial"/>
              </a:rPr>
              <a:t>Picking </a:t>
            </a:r>
            <a:r>
              <a:rPr lang="it-IT" sz="2400" dirty="0" err="1">
                <a:solidFill>
                  <a:srgbClr val="000000"/>
                </a:solidFill>
                <a:latin typeface="Aptos"/>
                <a:ea typeface="Arial"/>
                <a:cs typeface="Arial"/>
              </a:rPr>
              <a:t>which</a:t>
            </a:r>
            <a:r>
              <a:rPr lang="it-IT" sz="2400" dirty="0">
                <a:solidFill>
                  <a:srgbClr val="000000"/>
                </a:solidFill>
                <a:latin typeface="Aptos"/>
                <a:ea typeface="Arial"/>
                <a:cs typeface="Arial"/>
              </a:rPr>
              <a:t> </a:t>
            </a:r>
            <a:r>
              <a:rPr lang="it-IT" sz="2400" dirty="0" err="1">
                <a:solidFill>
                  <a:srgbClr val="000000"/>
                </a:solidFill>
                <a:latin typeface="Aptos"/>
                <a:ea typeface="Arial"/>
                <a:cs typeface="Arial"/>
              </a:rPr>
              <a:t>graphs</a:t>
            </a:r>
            <a:r>
              <a:rPr lang="it-IT" sz="2400" dirty="0">
                <a:solidFill>
                  <a:srgbClr val="000000"/>
                </a:solidFill>
                <a:latin typeface="Aptos"/>
                <a:ea typeface="Arial"/>
                <a:cs typeface="Arial"/>
              </a:rPr>
              <a:t> </a:t>
            </a:r>
            <a:r>
              <a:rPr lang="it-IT" sz="2400" dirty="0" err="1">
                <a:solidFill>
                  <a:srgbClr val="000000"/>
                </a:solidFill>
                <a:latin typeface="Aptos"/>
                <a:ea typeface="Arial"/>
                <a:cs typeface="Arial"/>
              </a:rPr>
              <a:t>would</a:t>
            </a:r>
            <a:r>
              <a:rPr lang="it-IT" sz="2400" dirty="0">
                <a:solidFill>
                  <a:srgbClr val="000000"/>
                </a:solidFill>
                <a:latin typeface="Aptos"/>
                <a:ea typeface="Arial"/>
                <a:cs typeface="Arial"/>
              </a:rPr>
              <a:t> be </a:t>
            </a:r>
            <a:r>
              <a:rPr lang="it-IT" sz="2400" dirty="0" err="1">
                <a:solidFill>
                  <a:srgbClr val="000000"/>
                </a:solidFill>
                <a:latin typeface="Aptos"/>
                <a:ea typeface="Arial"/>
                <a:cs typeface="Arial"/>
              </a:rPr>
              <a:t>useful</a:t>
            </a:r>
            <a:r>
              <a:rPr lang="it-IT" sz="2400" dirty="0">
                <a:solidFill>
                  <a:srgbClr val="000000"/>
                </a:solidFill>
                <a:latin typeface="Aptos"/>
                <a:ea typeface="Arial"/>
                <a:cs typeface="Arial"/>
              </a:rPr>
              <a:t> for the data </a:t>
            </a:r>
            <a:r>
              <a:rPr lang="it-IT" sz="2400" dirty="0" err="1">
                <a:solidFill>
                  <a:srgbClr val="000000"/>
                </a:solidFill>
                <a:latin typeface="Aptos"/>
                <a:ea typeface="Arial"/>
                <a:cs typeface="Arial"/>
              </a:rPr>
              <a:t>given</a:t>
            </a:r>
            <a:endParaRPr lang="it-IT" sz="2400" b="0" i="0" dirty="0" err="1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pPr marL="457200" lvl="0" indent="-457200" algn="l" rtl="0">
              <a:buFont typeface="Calibri,Sans-Serif"/>
              <a:buChar char="-"/>
            </a:pPr>
            <a:endParaRPr lang="it-IT" b="0" i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457200" indent="-457200">
              <a:buFont typeface="Calibri,Sans-Serif"/>
              <a:buChar char="-"/>
            </a:pPr>
            <a:r>
              <a:rPr lang="it-IT" sz="2400" dirty="0" err="1">
                <a:solidFill>
                  <a:srgbClr val="000000"/>
                </a:solidFill>
                <a:latin typeface="Aptos"/>
                <a:ea typeface="Arial"/>
                <a:cs typeface="Arial"/>
              </a:rPr>
              <a:t>Being</a:t>
            </a:r>
            <a:r>
              <a:rPr lang="it-IT" sz="2400" dirty="0">
                <a:solidFill>
                  <a:srgbClr val="000000"/>
                </a:solidFill>
                <a:latin typeface="Aptos"/>
                <a:ea typeface="Arial"/>
                <a:cs typeface="Arial"/>
              </a:rPr>
              <a:t> sure to </a:t>
            </a:r>
            <a:r>
              <a:rPr lang="it-IT" sz="2400" dirty="0" err="1">
                <a:solidFill>
                  <a:srgbClr val="000000"/>
                </a:solidFill>
                <a:latin typeface="Aptos"/>
                <a:ea typeface="Arial"/>
                <a:cs typeface="Arial"/>
              </a:rPr>
              <a:t>respect</a:t>
            </a:r>
            <a:r>
              <a:rPr lang="it-IT" sz="2400" dirty="0">
                <a:solidFill>
                  <a:srgbClr val="000000"/>
                </a:solidFill>
                <a:latin typeface="Aptos"/>
                <a:ea typeface="Arial"/>
                <a:cs typeface="Arial"/>
              </a:rPr>
              <a:t> color theory, </a:t>
            </a:r>
            <a:r>
              <a:rPr lang="it-IT" sz="2400" dirty="0" err="1">
                <a:solidFill>
                  <a:srgbClr val="000000"/>
                </a:solidFill>
                <a:latin typeface="Aptos"/>
                <a:ea typeface="Arial"/>
                <a:cs typeface="Arial"/>
              </a:rPr>
              <a:t>gestald</a:t>
            </a:r>
            <a:r>
              <a:rPr lang="it-IT" sz="2400" dirty="0">
                <a:solidFill>
                  <a:srgbClr val="000000"/>
                </a:solidFill>
                <a:latin typeface="Aptos"/>
                <a:ea typeface="Arial"/>
                <a:cs typeface="Arial"/>
              </a:rPr>
              <a:t> and the 3 30 300 rule</a:t>
            </a:r>
            <a:endParaRPr lang="it-IT" sz="2400" b="0" i="0" dirty="0">
              <a:solidFill>
                <a:srgbClr val="000000"/>
              </a:solidFill>
              <a:latin typeface="Aptos"/>
              <a:ea typeface="Arial"/>
              <a:cs typeface="Arial"/>
            </a:endParaRPr>
          </a:p>
          <a:p>
            <a:pPr algn="l" rtl="0"/>
            <a:r>
              <a:rPr lang="it-IT" sz="2800" b="0" i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​</a:t>
            </a:r>
          </a:p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626409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4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Titoli diapositive</vt:lpstr>
      </vt:variant>
      <vt:variant>
        <vt:i4>4</vt:i4>
      </vt:variant>
    </vt:vector>
  </HeadingPairs>
  <TitlesOfParts>
    <vt:vector size="5" baseType="lpstr">
      <vt:lpstr>Tema di Office</vt:lpstr>
      <vt:lpstr>Final Project Boolean Class 27</vt:lpstr>
      <vt:lpstr>Fase 1 Getting data and cleaning it up</vt:lpstr>
      <vt:lpstr>Fase 2 Cluster Analysis and Regression Test</vt:lpstr>
      <vt:lpstr>Fase 3 Creating a Dashboard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247</cp:revision>
  <dcterms:created xsi:type="dcterms:W3CDTF">2026-07-05T10:43:58Z</dcterms:created>
  <dcterms:modified xsi:type="dcterms:W3CDTF">2026-07-05T12:41:00Z</dcterms:modified>
</cp:coreProperties>
</file>